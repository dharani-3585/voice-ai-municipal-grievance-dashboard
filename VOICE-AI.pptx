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Barlow SemiBold"/>
      <p:regular r:id="rId201314"/>
    </p:embeddedFont>
    <p:embeddedFont>
      <p:font typeface="Barlow Thin"/>
      <p:regular r:id="rId201315"/>
    </p:embeddedFont>
    <p:embeddedFont>
      <p:font typeface="Barlow ExtraLight"/>
      <p:regular r:id="rId201316"/>
    </p:embeddedFont>
    <p:embeddedFont>
      <p:font typeface="Barlow Light"/>
      <p:regular r:id="rId201317"/>
    </p:embeddedFont>
    <p:embeddedFont>
      <p:font typeface="Barlow"/>
      <p:regular r:id="rId201318"/>
    </p:embeddedFont>
    <p:embeddedFont>
      <p:font typeface="Barlow Medium"/>
      <p:regular r:id="rId201319"/>
    </p:embeddedFont>
    <p:embeddedFont>
      <p:font typeface="Barlow Bold"/>
      <p:regular r:id="rId201320"/>
    </p:embeddedFont>
    <p:embeddedFont>
      <p:font typeface="Barlow ExtraBold"/>
      <p:regular r:id="rId201321"/>
    </p:embeddedFont>
    <p:embeddedFont>
      <p:font typeface="Barlow Black"/>
      <p:regular r:id="rId201322"/>
    </p:embeddedFont>
    <p:embeddedFont>
      <p:font typeface="Spline Sans Medium"/>
      <p:regular r:id="rId201323"/>
    </p:embeddedFont>
    <p:embeddedFont>
      <p:font typeface="Spline Sans SemiBold"/>
      <p:regular r:id="rId201324"/>
    </p:embeddedFont>
    <p:embeddedFont>
      <p:font typeface="Spline Sans Bold"/>
      <p:regular r:id="rId201325"/>
    </p:embeddedFont>
    <p:embeddedFont>
      <p:font typeface="Spline Sans Light"/>
      <p:regular r:id="rId201326"/>
    </p:embeddedFont>
    <p:embeddedFont>
      <p:font typeface="Spline Sans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1784598"/>
            <a:ext cx="38862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V.O.I.C.E. AI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0023" y="2444651"/>
            <a:ext cx="4634954" cy="914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50"/>
              </a:spcAft>
              <a:buNone/>
            </a:pP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Voice-Optimized Ingestion &amp; Citizen Engagement AI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Next-Generation Civic Grievance Processing Powered by Multimodal Generative AI for Madurai Corporation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0023" y="605954"/>
            <a:ext cx="958453" cy="237306"/>
          </a:xfrm>
          <a:prstGeom prst="roundRect">
            <a:avLst>
              <a:gd name="adj" fmla="val 67056"/>
            </a:avLst>
          </a:prstGeom>
          <a:solidFill>
            <a:srgbClr val="004D36"/>
          </a:solidFill>
          <a:ln/>
        </p:spPr>
      </p:sp>
      <p:sp>
        <p:nvSpPr>
          <p:cNvPr id="4" name="Text 1"/>
          <p:cNvSpPr/>
          <p:nvPr/>
        </p:nvSpPr>
        <p:spPr>
          <a:xfrm>
            <a:off x="619571" y="645691"/>
            <a:ext cx="1256556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40023" y="888802"/>
            <a:ext cx="4121423" cy="368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Civic Engagement Gap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40023" y="1428080"/>
            <a:ext cx="4634954" cy="788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Madurai's citizens file grievances in </a:t>
            </a:r>
            <a:pPr algn="l"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unstructured Tanglish and colloquial Tamil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voice and text formats that standard database schemas cannot parse. Municipal departments manually categorize and translate each query, creating processing delays of </a:t>
            </a:r>
            <a:pPr algn="l"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16FFB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up to 4 days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leaving critical infrastructure issues unresolved.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0023" y="2345010"/>
            <a:ext cx="2260476" cy="1137865"/>
          </a:xfrm>
          <a:prstGeom prst="roundRect">
            <a:avLst>
              <a:gd name="adj" fmla="val 17481"/>
            </a:avLst>
          </a:prstGeom>
          <a:solidFill>
            <a:srgbClr val="0A081B"/>
          </a:solidFill>
          <a:ln w="14288">
            <a:solidFill>
              <a:srgbClr val="16FF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6916" y="2491904"/>
            <a:ext cx="1473398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Language Barrier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6916" y="2744391"/>
            <a:ext cx="1966689" cy="591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Code-switched Tanglish and regional Tamil dialects bypass structured intake systems entirely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14427" y="2345010"/>
            <a:ext cx="2260550" cy="1137865"/>
          </a:xfrm>
          <a:prstGeom prst="roundRect">
            <a:avLst>
              <a:gd name="adj" fmla="val 17481"/>
            </a:avLst>
          </a:prstGeom>
          <a:solidFill>
            <a:srgbClr val="0A081B"/>
          </a:solidFill>
          <a:ln w="14288">
            <a:solidFill>
              <a:srgbClr val="29DD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61320" y="2491904"/>
            <a:ext cx="1473398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Manual Bottleneck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061320" y="2744391"/>
            <a:ext cx="1966764" cy="591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Human translation and categorization introduce 96-hour average processing delays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0023" y="3596804"/>
            <a:ext cx="4634954" cy="940668"/>
          </a:xfrm>
          <a:prstGeom prst="roundRect">
            <a:avLst>
              <a:gd name="adj" fmla="val 21145"/>
            </a:avLst>
          </a:prstGeom>
          <a:solidFill>
            <a:srgbClr val="0A081B"/>
          </a:solidFill>
          <a:ln w="14288">
            <a:solidFill>
              <a:srgbClr val="37A7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6916" y="3743697"/>
            <a:ext cx="1473398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Privacy Risk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86916" y="3996184"/>
            <a:ext cx="4341168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Citizen PII enters unsecured workflows without automated redaction or audit trails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432197"/>
            <a:ext cx="602159" cy="143470"/>
          </a:xfrm>
          <a:prstGeom prst="roundRect">
            <a:avLst>
              <a:gd name="adj" fmla="val 74614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593527" y="458912"/>
            <a:ext cx="952351" cy="9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ARCHITECTURE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540023" y="596280"/>
            <a:ext cx="2692822" cy="247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Multimodal Pipeline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0023" y="921395"/>
            <a:ext cx="8521154" cy="112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V.O.I.C.E. AI transforms chaotic citizen inputs into structured, actionable records — fully automated, in under two minutes.</a:t>
            </a:r>
            <a:endParaRPr lang="en-US" sz="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212" y="1091952"/>
            <a:ext cx="7997503" cy="3448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1348" y="3899265"/>
            <a:ext cx="1612774" cy="20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PII Masking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1348" y="3100942"/>
            <a:ext cx="1612774" cy="20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Semantic Translation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11348" y="2310683"/>
            <a:ext cx="1612774" cy="20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Ingestion Layer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11348" y="1512360"/>
            <a:ext cx="1612774" cy="20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Unstructured Input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0023" y="4598640"/>
            <a:ext cx="8521154" cy="112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stage is fully automated — from raw regional speech to a clean, queryable BigQuery record — with zero manual touchpoints required.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429890"/>
            <a:ext cx="721593" cy="183207"/>
          </a:xfrm>
          <a:prstGeom prst="roundRect">
            <a:avLst>
              <a:gd name="adj" fmla="val 71064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605061" y="462409"/>
            <a:ext cx="1048717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PERFORMANCE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40023" y="643607"/>
            <a:ext cx="4085779" cy="301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Latency Reduction Performance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145158"/>
            <a:ext cx="3899669" cy="28069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071" y="1135633"/>
            <a:ext cx="2592288" cy="15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 </a:t>
            </a:r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6FFBB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99.9%</a:t>
            </a:r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Reduction in Processing Time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709071" y="1362596"/>
            <a:ext cx="3899669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Where legacy workflows took </a:t>
            </a:r>
            <a:pPr algn="l" indent="0" marL="0">
              <a:lnSpc>
                <a:spcPct val="11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 days</a:t>
            </a:r>
            <a:pPr algn="l"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V.O.I.C.E. AI completes ingestion, translation, classification, and routing in </a:t>
            </a:r>
            <a:pPr algn="l" indent="0" marL="0">
              <a:lnSpc>
                <a:spcPct val="11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under 2 minutes</a:t>
            </a:r>
            <a:pPr algn="l"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023" y="4123730"/>
            <a:ext cx="2637086" cy="5898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9956" y="4246513"/>
            <a:ext cx="1205508" cy="15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96 hrs → Manual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19956" y="4442966"/>
            <a:ext cx="2334369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Human translation, routing, and data entry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3383" y="4123730"/>
            <a:ext cx="2637160" cy="5898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33316" y="4246513"/>
            <a:ext cx="1205508" cy="15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18 hrs → Keywords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433316" y="4442966"/>
            <a:ext cx="2334444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Partial automation, still requires review</a:t>
            </a:r>
            <a:endParaRPr lang="en-US" sz="8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66817" y="4123730"/>
            <a:ext cx="2637160" cy="5898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46750" y="4246513"/>
            <a:ext cx="1205508" cy="15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 min → V.O.I.C.E.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6146750" y="4442966"/>
            <a:ext cx="2334444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Fully autonomous end-to-end pipeline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0023" y="454075"/>
            <a:ext cx="804788" cy="237306"/>
          </a:xfrm>
          <a:prstGeom prst="roundRect">
            <a:avLst>
              <a:gd name="adj" fmla="val 67056"/>
            </a:avLst>
          </a:prstGeom>
          <a:solidFill>
            <a:srgbClr val="004D36"/>
          </a:solidFill>
          <a:ln/>
        </p:spPr>
      </p:sp>
      <p:sp>
        <p:nvSpPr>
          <p:cNvPr id="4" name="Text 1"/>
          <p:cNvSpPr/>
          <p:nvPr/>
        </p:nvSpPr>
        <p:spPr>
          <a:xfrm>
            <a:off x="619571" y="493812"/>
            <a:ext cx="1102891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40023" y="736922"/>
            <a:ext cx="3838724" cy="368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Core Engine Capabilities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40023" y="1276201"/>
            <a:ext cx="2260476" cy="1846808"/>
          </a:xfrm>
          <a:prstGeom prst="roundRect">
            <a:avLst>
              <a:gd name="adj" fmla="val 10770"/>
            </a:avLst>
          </a:prstGeom>
          <a:solidFill>
            <a:srgbClr val="0A081B"/>
          </a:solidFill>
          <a:ln w="14288">
            <a:solidFill>
              <a:srgbClr val="16FFB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6916" y="1423095"/>
            <a:ext cx="397818" cy="397818"/>
          </a:xfrm>
          <a:prstGeom prst="ellipse">
            <a:avLst/>
          </a:prstGeom>
          <a:solidFill>
            <a:srgbClr val="16FFB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305" y="1532483"/>
            <a:ext cx="178966" cy="1789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6916" y="1934840"/>
            <a:ext cx="1473398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Multimodal Parsing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86916" y="2187327"/>
            <a:ext cx="1966689" cy="788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Directly ingests audio speech and raw code-switched Tanglish text — no pre-processing or manual transcription required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914427" y="1276201"/>
            <a:ext cx="2260550" cy="1846808"/>
          </a:xfrm>
          <a:prstGeom prst="roundRect">
            <a:avLst>
              <a:gd name="adj" fmla="val 10770"/>
            </a:avLst>
          </a:prstGeom>
          <a:solidFill>
            <a:srgbClr val="0A081B"/>
          </a:solidFill>
          <a:ln w="14288">
            <a:solidFill>
              <a:srgbClr val="29DDD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061320" y="1423095"/>
            <a:ext cx="397818" cy="397818"/>
          </a:xfrm>
          <a:prstGeom prst="ellipse">
            <a:avLst/>
          </a:prstGeom>
          <a:solidFill>
            <a:srgbClr val="29DDD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0709" y="1532483"/>
            <a:ext cx="178966" cy="1789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61320" y="1934840"/>
            <a:ext cx="1848669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Automated Anonymization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3061320" y="2187327"/>
            <a:ext cx="1966764" cy="788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Strips phone numbers, names, and personal identifiers automatically before any database ingestion — zero PII leakage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40023" y="3236937"/>
            <a:ext cx="4634954" cy="1452414"/>
          </a:xfrm>
          <a:prstGeom prst="roundRect">
            <a:avLst>
              <a:gd name="adj" fmla="val 13695"/>
            </a:avLst>
          </a:prstGeom>
          <a:solidFill>
            <a:srgbClr val="0A081B"/>
          </a:solidFill>
          <a:ln w="14288">
            <a:solidFill>
              <a:srgbClr val="37A7E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86916" y="3383831"/>
            <a:ext cx="397818" cy="397818"/>
          </a:xfrm>
          <a:prstGeom prst="ellipse">
            <a:avLst/>
          </a:prstGeom>
          <a:solidFill>
            <a:srgbClr val="37A7E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6305" y="3493219"/>
            <a:ext cx="178966" cy="17896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6916" y="3895576"/>
            <a:ext cx="1724992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Dynamic Priority Routing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86916" y="4148063"/>
            <a:ext cx="4341168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Assigns algorithmic severity scores (1–5) to fast-track emergency infrastructure failures like electrical hazards and water main breaks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424309"/>
            <a:ext cx="672629" cy="120253"/>
          </a:xfrm>
          <a:prstGeom prst="roundRect">
            <a:avLst>
              <a:gd name="adj" fmla="val 76990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586308" y="447452"/>
            <a:ext cx="1037258" cy="7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ARCHITECTURE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540023" y="559966"/>
            <a:ext cx="277906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Standardized Schema Target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0023" y="832098"/>
            <a:ext cx="8521154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Chaotic regional inputs are mapped into a clean, queryable BigQuery relational schema — enabling instant cross-departmental analytics.</a:t>
            </a:r>
            <a:endParaRPr lang="en-US" sz="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011436"/>
            <a:ext cx="3937918" cy="39379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70822" y="2686720"/>
            <a:ext cx="132003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From Chaos to Clarity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4670822" y="2832422"/>
            <a:ext cx="3937918" cy="185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grievance — regardless of language or format — lands in BigQuery with a consistent, analyzable structure. Departments query by zone, severity, or category instantly.</a:t>
            </a:r>
            <a:endParaRPr lang="en-US" sz="600" dirty="0"/>
          </a:p>
        </p:txBody>
      </p:sp>
      <p:sp>
        <p:nvSpPr>
          <p:cNvPr id="9" name="Shape 6"/>
          <p:cNvSpPr/>
          <p:nvPr/>
        </p:nvSpPr>
        <p:spPr>
          <a:xfrm>
            <a:off x="4670822" y="3060948"/>
            <a:ext cx="3937918" cy="208211"/>
          </a:xfrm>
          <a:prstGeom prst="roundRect">
            <a:avLst>
              <a:gd name="adj" fmla="val 55582"/>
            </a:avLst>
          </a:prstGeom>
          <a:solidFill>
            <a:srgbClr val="00805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915" y="3166021"/>
            <a:ext cx="96441" cy="770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21448" y="3114898"/>
            <a:ext cx="4067398" cy="92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All fields are typed and validated at ingestion. No null-category or unclassified records enter the system.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0023" y="544562"/>
            <a:ext cx="481608" cy="220563"/>
          </a:xfrm>
          <a:prstGeom prst="roundRect">
            <a:avLst>
              <a:gd name="adj" fmla="val 68211"/>
            </a:avLst>
          </a:prstGeom>
          <a:solidFill>
            <a:srgbClr val="004D36"/>
          </a:solidFill>
          <a:ln/>
        </p:spPr>
      </p:sp>
      <p:sp>
        <p:nvSpPr>
          <p:cNvPr id="4" name="Text 1"/>
          <p:cNvSpPr/>
          <p:nvPr/>
        </p:nvSpPr>
        <p:spPr>
          <a:xfrm>
            <a:off x="615181" y="582141"/>
            <a:ext cx="788491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IMPACT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40023" y="805830"/>
            <a:ext cx="4635326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Transforming Local Governance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540023" y="1369516"/>
            <a:ext cx="2253779" cy="413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98%</a:t>
            </a:r>
            <a:endParaRPr lang="en-US" sz="3250" dirty="0"/>
          </a:p>
        </p:txBody>
      </p:sp>
      <p:sp>
        <p:nvSpPr>
          <p:cNvPr id="7" name="Text 4"/>
          <p:cNvSpPr/>
          <p:nvPr/>
        </p:nvSpPr>
        <p:spPr>
          <a:xfrm>
            <a:off x="970359" y="1922264"/>
            <a:ext cx="139303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Translation Accuracy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0023" y="2157487"/>
            <a:ext cx="2253779" cy="363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Semantic regional translation precision across Tamil dialects and Tanglish inputs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921124" y="1369516"/>
            <a:ext cx="2253853" cy="413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0%</a:t>
            </a:r>
            <a:endParaRPr lang="en-US" sz="3250" dirty="0"/>
          </a:p>
        </p:txBody>
      </p:sp>
      <p:sp>
        <p:nvSpPr>
          <p:cNvPr id="10" name="Text 7"/>
          <p:cNvSpPr/>
          <p:nvPr/>
        </p:nvSpPr>
        <p:spPr>
          <a:xfrm>
            <a:off x="3351535" y="1922264"/>
            <a:ext cx="139303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PII Leak Rate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921124" y="2157487"/>
            <a:ext cx="2253853" cy="363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Zero personal data exposed in logs or database records post-anonymization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730573" y="2787402"/>
            <a:ext cx="2253779" cy="413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2min</a:t>
            </a:r>
            <a:endParaRPr lang="en-US" sz="3250" dirty="0"/>
          </a:p>
        </p:txBody>
      </p:sp>
      <p:sp>
        <p:nvSpPr>
          <p:cNvPr id="13" name="Text 10"/>
          <p:cNvSpPr/>
          <p:nvPr/>
        </p:nvSpPr>
        <p:spPr>
          <a:xfrm>
            <a:off x="2160910" y="3340150"/>
            <a:ext cx="139303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End-to-End Routing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730573" y="3575372"/>
            <a:ext cx="2253779" cy="363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From voice input to department assignment and BigQuery landing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40023" y="4053557"/>
            <a:ext cx="4634954" cy="545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Regional officers access </a:t>
            </a:r>
            <a:pPr algn="l" indent="0" marL="0">
              <a:lnSpc>
                <a:spcPct val="121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real-time visual dashboards</a:t>
            </a:r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mapping critical civic concerns — potholes, water leaks, electrical hazards — by zone and severity, enabling proactive, data-driven response.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465386"/>
            <a:ext cx="691902" cy="215057"/>
          </a:xfrm>
          <a:prstGeom prst="roundRect">
            <a:avLst>
              <a:gd name="adj" fmla="val 68612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613767" y="502221"/>
            <a:ext cx="1001613" cy="141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NEXT STEPS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0023" y="719584"/>
            <a:ext cx="3295650" cy="341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Deployment Roadmap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4564856" y="1208112"/>
            <a:ext cx="14288" cy="2935560"/>
          </a:xfrm>
          <a:prstGeom prst="roundRect">
            <a:avLst>
              <a:gd name="adj" fmla="val 1290891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79118" y="1339230"/>
            <a:ext cx="368871" cy="14288"/>
          </a:xfrm>
          <a:prstGeom prst="roundRect">
            <a:avLst>
              <a:gd name="adj" fmla="val 1290891"/>
            </a:avLst>
          </a:prstGeom>
          <a:solidFill>
            <a:srgbClr val="16FFBB"/>
          </a:solidFill>
          <a:ln/>
        </p:spPr>
      </p:sp>
      <p:sp>
        <p:nvSpPr>
          <p:cNvPr id="7" name="Shape 5"/>
          <p:cNvSpPr/>
          <p:nvPr/>
        </p:nvSpPr>
        <p:spPr>
          <a:xfrm>
            <a:off x="4433701" y="1208112"/>
            <a:ext cx="276597" cy="276597"/>
          </a:xfrm>
          <a:prstGeom prst="ellipse">
            <a:avLst/>
          </a:prstGeom>
          <a:solidFill>
            <a:srgbClr val="0A081B"/>
          </a:solidFill>
          <a:ln w="14288">
            <a:solidFill>
              <a:srgbClr val="16FF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9996" y="1243905"/>
            <a:ext cx="163934" cy="2049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20702" y="1250379"/>
            <a:ext cx="1436489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Phase 1 — Pilot Launch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0023" y="1479947"/>
            <a:ext cx="3417168" cy="353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Deploy in 3 high-volume wards. Integrate Gemini 1.5 Flash translation and BigQuery schema. Validate PII masking pipeline.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96011" y="2026965"/>
            <a:ext cx="368871" cy="14288"/>
          </a:xfrm>
          <a:prstGeom prst="roundRect">
            <a:avLst>
              <a:gd name="adj" fmla="val 1290891"/>
            </a:avLst>
          </a:prstGeom>
          <a:solidFill>
            <a:srgbClr val="29DDDA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3701" y="1895847"/>
            <a:ext cx="276597" cy="276597"/>
          </a:xfrm>
          <a:prstGeom prst="ellipse">
            <a:avLst/>
          </a:prstGeom>
          <a:solidFill>
            <a:srgbClr val="0A081B"/>
          </a:solidFill>
          <a:ln w="14288">
            <a:solidFill>
              <a:srgbClr val="29DD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996" y="1931640"/>
            <a:ext cx="163934" cy="2049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86809" y="1938114"/>
            <a:ext cx="1730276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Phase 2 — Citywide Rollout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86809" y="2167682"/>
            <a:ext cx="3417168" cy="353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Expand to all Madurai Corporation zones. Enable officer dashboards and real-time severity mapping.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79118" y="2637904"/>
            <a:ext cx="368871" cy="14288"/>
          </a:xfrm>
          <a:prstGeom prst="roundRect">
            <a:avLst>
              <a:gd name="adj" fmla="val 1290891"/>
            </a:avLst>
          </a:prstGeom>
          <a:solidFill>
            <a:srgbClr val="37A7E7"/>
          </a:solidFill>
          <a:ln/>
        </p:spPr>
      </p:sp>
      <p:sp>
        <p:nvSpPr>
          <p:cNvPr id="17" name="Shape 15"/>
          <p:cNvSpPr/>
          <p:nvPr/>
        </p:nvSpPr>
        <p:spPr>
          <a:xfrm>
            <a:off x="4433701" y="2506787"/>
            <a:ext cx="276597" cy="276597"/>
          </a:xfrm>
          <a:prstGeom prst="ellipse">
            <a:avLst/>
          </a:prstGeom>
          <a:solidFill>
            <a:srgbClr val="0A081B"/>
          </a:solidFill>
          <a:ln w="14288">
            <a:solidFill>
              <a:srgbClr val="37A7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9996" y="2542580"/>
            <a:ext cx="163934" cy="2049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454920" y="2549054"/>
            <a:ext cx="1502271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Phase 3 — Optimization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0023" y="2778621"/>
            <a:ext cx="3417168" cy="353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Refine classification models on live data. Introduce predictive issue clustering and automated SLA tracking.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96011" y="3248844"/>
            <a:ext cx="368871" cy="14288"/>
          </a:xfrm>
          <a:prstGeom prst="roundRect">
            <a:avLst>
              <a:gd name="adj" fmla="val 1290891"/>
            </a:avLst>
          </a:prstGeom>
          <a:solidFill>
            <a:srgbClr val="091231"/>
          </a:solidFill>
          <a:ln/>
        </p:spPr>
      </p:sp>
      <p:sp>
        <p:nvSpPr>
          <p:cNvPr id="22" name="Shape 20"/>
          <p:cNvSpPr/>
          <p:nvPr/>
        </p:nvSpPr>
        <p:spPr>
          <a:xfrm>
            <a:off x="4433701" y="3117726"/>
            <a:ext cx="276597" cy="276597"/>
          </a:xfrm>
          <a:prstGeom prst="ellipse">
            <a:avLst/>
          </a:prstGeom>
          <a:solidFill>
            <a:srgbClr val="0A081B"/>
          </a:solidFill>
          <a:ln w="14288">
            <a:solidFill>
              <a:srgbClr val="0912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9996" y="3153519"/>
            <a:ext cx="163934" cy="2049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186809" y="3159993"/>
            <a:ext cx="1634505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Phase 4 — Scale &amp; Govern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86809" y="3389561"/>
            <a:ext cx="3417168" cy="353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Establish governance framework, audit logs, and model retraining cadence. Prepare for state-level replication.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0023" y="4253880"/>
            <a:ext cx="8063954" cy="424235"/>
          </a:xfrm>
          <a:prstGeom prst="roundRect">
            <a:avLst>
              <a:gd name="adj" fmla="val 43476"/>
            </a:avLst>
          </a:prstGeom>
          <a:solidFill>
            <a:srgbClr val="183A13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55" y="4419005"/>
            <a:ext cx="153665" cy="12293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39552" y="4382542"/>
            <a:ext cx="7998693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V.O.I.C.E. AI is production-ready.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Madurai Corporation can begin Phase 1 within 6 weeks of procurement approval.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2026-07-04T10:00:35Z</dcterms:created>
  <dcterms:modified xsi:type="dcterms:W3CDTF">2026-07-04T10:00:35Z</dcterms:modified>
</cp:coreProperties>
</file>